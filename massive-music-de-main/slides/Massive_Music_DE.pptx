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0"/>
            <a:ext cx="91440" cy="6858000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72600" y="3657600"/>
            <a:ext cx="1828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83496" y="3200400"/>
            <a:ext cx="182880" cy="2011680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94392" y="3474720"/>
            <a:ext cx="18288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05288" y="2926080"/>
            <a:ext cx="182880" cy="2560320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16184" y="3291840"/>
            <a:ext cx="1828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27080" y="2743200"/>
            <a:ext cx="182880" cy="2926080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37976" y="3566160"/>
            <a:ext cx="1828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48872" y="3108960"/>
            <a:ext cx="182880" cy="2194560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1132C"/>
                </a:solidFill>
                <a:latin typeface="Segoe UI"/>
              </a:rPr>
              <a:t>DATA ENGINEERING · TECHNICAL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1554480"/>
            <a:ext cx="82296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Automated Metadata Pipeline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8A93A6"/>
                </a:solidFill>
                <a:latin typeface="Segoe UI"/>
              </a:rPr>
              <a:t>for Spotify &amp; YouTube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78638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5CBD8"/>
                </a:solidFill>
                <a:latin typeface="Segoe UI"/>
              </a:rPr>
              <a:t>A scalable Raw → Staging → Serving pipeline over an internal catalogue of 699 songs — answering how many ISRCs (Spotify) and videos (YouTube) each song has.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17373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1132C"/>
                </a:solidFill>
                <a:latin typeface="Segoe UI"/>
              </a:rPr>
              <a:t>699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1737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A93A6"/>
                </a:solidFill>
                <a:latin typeface="Segoe UI"/>
              </a:rPr>
              <a:t>SONGS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754880"/>
            <a:ext cx="17373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1132C"/>
                </a:solidFill>
                <a:latin typeface="Segoe UI"/>
              </a:rPr>
              <a:t>1,266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440680"/>
            <a:ext cx="1737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A93A6"/>
                </a:solidFill>
                <a:latin typeface="Segoe UI"/>
              </a:rPr>
              <a:t>ISRCS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754880"/>
            <a:ext cx="17373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1132C"/>
                </a:solidFill>
                <a:latin typeface="Segoe UI"/>
              </a:rPr>
              <a:t>2,079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440680"/>
            <a:ext cx="1737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A93A6"/>
                </a:solidFill>
                <a:latin typeface="Segoe UI"/>
              </a:rPr>
              <a:t>VIDEOS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Bagas Naufal Alfathan  ·  Data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1132C"/>
                </a:solidFill>
                <a:latin typeface="Segoe UI"/>
              </a:rPr>
              <a:t>WHY WE'RE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41B33"/>
                </a:solidFill>
                <a:latin typeface="Segoe UI"/>
              </a:rPr>
              <a:t>The Business Problem &amp; Data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Segoe UI"/>
              </a:rPr>
              <a:t>Massive Music  ·  Data Engineering Technical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41B33"/>
                </a:solidFill>
                <a:latin typeface="Segoe UI"/>
              </a:rPr>
              <a:t>Two questions from the business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2514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82296" cy="1371600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38528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1132C"/>
                </a:solidFill>
                <a:latin typeface="Segoe UI"/>
              </a:rPr>
              <a:t>Spotify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633472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A6072"/>
                </a:solidFill>
                <a:latin typeface="Segoe UI"/>
              </a:rPr>
              <a:t>ISRCs per song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834640"/>
            <a:ext cx="2240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6"/>
                </a:solidFill>
                <a:latin typeface="Segoe UI"/>
              </a:rPr>
              <a:t>external_ids.isrc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828800"/>
            <a:ext cx="2514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828800"/>
            <a:ext cx="82296" cy="1371600"/>
          </a:xfrm>
          <a:prstGeom prst="rect">
            <a:avLst/>
          </a:prstGeom>
          <a:solidFill>
            <a:srgbClr val="14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0168" y="1938528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41B33"/>
                </a:solidFill>
                <a:latin typeface="Segoe UI"/>
              </a:rPr>
              <a:t>YouTube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2633472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A6072"/>
                </a:solidFill>
                <a:latin typeface="Segoe UI"/>
              </a:rPr>
              <a:t>Videos per song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834640"/>
            <a:ext cx="2240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6"/>
                </a:solidFill>
                <a:latin typeface="Segoe UI"/>
              </a:rPr>
              <a:t>search.list → videoId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450" b="1">
                <a:solidFill>
                  <a:srgbClr val="1B1E28"/>
                </a:solidFill>
                <a:latin typeface="Segoe UI"/>
              </a:rPr>
              <a:t>Song</a:t>
            </a:r>
            <a:r>
              <a:rPr sz="1450">
                <a:solidFill>
                  <a:srgbClr val="5A6072"/>
                </a:solidFill>
                <a:latin typeface="Segoe UI"/>
              </a:rPr>
              <a:t> = a composition (internal Song Code)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450" b="1">
                <a:solidFill>
                  <a:srgbClr val="1B1E28"/>
                </a:solidFill>
                <a:latin typeface="Segoe UI"/>
              </a:rPr>
              <a:t>Recording</a:t>
            </a:r>
            <a:r>
              <a:rPr sz="1450">
                <a:solidFill>
                  <a:srgbClr val="5A6072"/>
                </a:solidFill>
                <a:latin typeface="Segoe UI"/>
              </a:rPr>
              <a:t> = one audio version, unique ISRC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450" b="1">
                <a:solidFill>
                  <a:srgbClr val="1B1E28"/>
                </a:solidFill>
                <a:latin typeface="Segoe UI"/>
              </a:rPr>
              <a:t>Video</a:t>
            </a:r>
            <a:r>
              <a:rPr sz="1450">
                <a:solidFill>
                  <a:srgbClr val="5A6072"/>
                </a:solidFill>
                <a:latin typeface="Segoe UI"/>
              </a:rPr>
              <a:t> = one YouTube upload (videoId)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450" b="1">
                <a:solidFill>
                  <a:srgbClr val="1B1E28"/>
                </a:solidFill>
                <a:latin typeface="Segoe UI"/>
              </a:rPr>
              <a:t>Key rule:</a:t>
            </a:r>
            <a:r>
              <a:rPr sz="1450">
                <a:solidFill>
                  <a:srgbClr val="5A6072"/>
                </a:solidFill>
                <a:latin typeface="Segoe UI"/>
              </a:rPr>
              <a:t> a song covered by many artists → many ISRCs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2011680"/>
            <a:ext cx="2011680" cy="868680"/>
          </a:xfrm>
          <a:prstGeom prst="roundRect">
            <a:avLst/>
          </a:prstGeom>
          <a:solidFill>
            <a:srgbClr val="14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139696"/>
            <a:ext cx="2011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SONG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93A6"/>
                </a:solidFill>
                <a:latin typeface="Segoe UI"/>
              </a:rPr>
              <a:t>composition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1325880"/>
            <a:ext cx="2194560" cy="777240"/>
          </a:xfrm>
          <a:prstGeom prst="round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444752"/>
            <a:ext cx="21945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RECORDING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PK = ISRC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2788920"/>
            <a:ext cx="2194560" cy="777240"/>
          </a:xfrm>
          <a:prstGeom prst="roundRect">
            <a:avLst/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907792"/>
            <a:ext cx="21945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VIDEO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PK = video_id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1371600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1132C"/>
                </a:solidFill>
                <a:latin typeface="Segoe UI"/>
              </a:rPr>
              <a:t>1 : 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926080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1132C"/>
                </a:solidFill>
                <a:latin typeface="Segoe UI"/>
              </a:rPr>
              <a:t>1 : 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51206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072"/>
                </a:solidFill>
                <a:latin typeface="Segoe UI"/>
              </a:rPr>
              <a:t>"If a song is covered by multiple artists, each version has a different ISRC, even though it relates back to the same song."  — study 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1132C"/>
                </a:solidFill>
                <a:latin typeface="Segoe UI"/>
              </a:rPr>
              <a:t>MEDALLION: RAW → STAGING → SERVING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41B33"/>
                </a:solidFill>
                <a:latin typeface="Segoe UI"/>
              </a:rPr>
              <a:t>Pipeline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Segoe UI"/>
              </a:rPr>
              <a:t>Massive Music  ·  Data Engineering Technical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Segoe U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0698480" cy="502920"/>
          </a:xfrm>
          <a:prstGeom prst="roundRect">
            <a:avLst/>
          </a:prstGeom>
          <a:solidFill>
            <a:srgbClr val="14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ORCHESTRATION   —   demo: src/pipeline.py     |     production: Azure Data Factory (scheduled, retries, alerts)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1874519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77440"/>
            <a:ext cx="1874519" cy="91440"/>
          </a:xfrm>
          <a:prstGeom prst="rect">
            <a:avLst/>
          </a:prstGeom>
          <a:solidFill>
            <a:srgbClr val="5A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15184"/>
            <a:ext cx="187451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41B33"/>
                </a:solidFill>
                <a:latin typeface="Segoe UI"/>
              </a:rPr>
              <a:t>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35808"/>
            <a:ext cx="1691639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6072"/>
                </a:solidFill>
                <a:latin typeface="Segoe UI"/>
              </a:rPr>
              <a:t>Catalogue +
Spotify + YouTube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624327" y="2944368"/>
            <a:ext cx="237744" cy="237744"/>
          </a:xfrm>
          <a:prstGeom prst="rightArrow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80359" y="2377440"/>
            <a:ext cx="1874519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80359" y="2377440"/>
            <a:ext cx="1874519" cy="91440"/>
          </a:xfrm>
          <a:prstGeom prst="rect">
            <a:avLst/>
          </a:prstGeom>
          <a:solidFill>
            <a:srgbClr val="C77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59" y="2615184"/>
            <a:ext cx="187451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41B33"/>
                </a:solidFill>
                <a:latin typeface="Segoe UI"/>
              </a:rPr>
              <a:t>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799" y="3035808"/>
            <a:ext cx="1691639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6072"/>
                </a:solidFill>
                <a:latin typeface="Segoe UI"/>
              </a:rPr>
              <a:t>Immutable JSON
(Bronze)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773166" y="2944368"/>
            <a:ext cx="237744" cy="237744"/>
          </a:xfrm>
          <a:prstGeom prst="rightArrow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198" y="2377440"/>
            <a:ext cx="1874519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198" y="2377440"/>
            <a:ext cx="1874519" cy="91440"/>
          </a:xfrm>
          <a:prstGeom prst="rect">
            <a:avLst/>
          </a:prstGeom>
          <a:solidFill>
            <a:srgbClr val="8A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198" y="2615184"/>
            <a:ext cx="187451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41B33"/>
                </a:solidFill>
                <a:latin typeface="Segoe UI"/>
              </a:rPr>
              <a:t>STAGING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38" y="3035808"/>
            <a:ext cx="1691639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6072"/>
                </a:solidFill>
                <a:latin typeface="Segoe UI"/>
              </a:rPr>
              <a:t>clean · dedup
validate (Silver)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922005" y="2944368"/>
            <a:ext cx="237744" cy="237744"/>
          </a:xfrm>
          <a:prstGeom prst="rightArrow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78037" y="2377440"/>
            <a:ext cx="1874519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78037" y="2377440"/>
            <a:ext cx="187451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37" y="2615184"/>
            <a:ext cx="187451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41B33"/>
                </a:solidFill>
                <a:latin typeface="Segoe UI"/>
              </a:rPr>
              <a:t>SERVING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77" y="3035808"/>
            <a:ext cx="1691639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6072"/>
                </a:solidFill>
                <a:latin typeface="Segoe UI"/>
              </a:rPr>
              <a:t>star schema
+ marts (Gold)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070844" y="2944368"/>
            <a:ext cx="237744" cy="237744"/>
          </a:xfrm>
          <a:prstGeom prst="rightArrow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26876" y="2377440"/>
            <a:ext cx="1874519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26876" y="2377440"/>
            <a:ext cx="1874519" cy="91440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76" y="2615184"/>
            <a:ext cx="187451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41B33"/>
                </a:solidFill>
                <a:latin typeface="Segoe UI"/>
              </a:rPr>
              <a:t>POWER BI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16" y="3035808"/>
            <a:ext cx="1691639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6072"/>
                </a:solidFill>
                <a:latin typeface="Segoe UI"/>
              </a:rPr>
              <a:t>analysts &amp;
reports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160520"/>
            <a:ext cx="5257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429768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1132C"/>
                </a:solidFill>
                <a:latin typeface="Segoe UI"/>
              </a:rPr>
              <a:t>Why three layers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7548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132C"/>
                </a:solidFill>
                <a:latin typeface="Segoe UI"/>
              </a:rPr>
              <a:t>—  </a:t>
            </a:r>
            <a:r>
              <a:rPr sz="1200" b="1">
                <a:solidFill>
                  <a:srgbClr val="1B1E28"/>
                </a:solidFill>
                <a:latin typeface="Segoe UI"/>
              </a:rPr>
              <a:t>Raw</a:t>
            </a:r>
            <a:r>
              <a:rPr sz="1200">
                <a:solidFill>
                  <a:srgbClr val="5A6072"/>
                </a:solidFill>
                <a:latin typeface="Segoe UI"/>
              </a:rPr>
              <a:t> keeps exact API payloads → replay without re-hitting quota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132C"/>
                </a:solidFill>
                <a:latin typeface="Segoe UI"/>
              </a:rPr>
              <a:t>—  </a:t>
            </a:r>
            <a:r>
              <a:rPr sz="1200" b="1">
                <a:solidFill>
                  <a:srgbClr val="1B1E28"/>
                </a:solidFill>
                <a:latin typeface="Segoe UI"/>
              </a:rPr>
              <a:t>Staging</a:t>
            </a:r>
            <a:r>
              <a:rPr sz="1200">
                <a:solidFill>
                  <a:srgbClr val="5A6072"/>
                </a:solidFill>
                <a:latin typeface="Segoe UI"/>
              </a:rPr>
              <a:t> deterministic, unit-testable cleaning &amp; dedup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132C"/>
                </a:solidFill>
                <a:latin typeface="Segoe UI"/>
              </a:rPr>
              <a:t>—  </a:t>
            </a:r>
            <a:r>
              <a:rPr sz="1200" b="1">
                <a:solidFill>
                  <a:srgbClr val="1B1E28"/>
                </a:solidFill>
                <a:latin typeface="Segoe UI"/>
              </a:rPr>
              <a:t>Serving</a:t>
            </a:r>
            <a:r>
              <a:rPr sz="1200">
                <a:solidFill>
                  <a:srgbClr val="5A6072"/>
                </a:solidFill>
                <a:latin typeface="Segoe UI"/>
              </a:rPr>
              <a:t> query-optimised; analysts never touch JSON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4160520"/>
            <a:ext cx="5257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29768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1132C"/>
                </a:solidFill>
                <a:latin typeface="Segoe UI"/>
              </a:rPr>
              <a:t>Scalability built-in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7548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132C"/>
                </a:solidFill>
                <a:latin typeface="Segoe UI"/>
              </a:rPr>
              <a:t>—  </a:t>
            </a:r>
            <a:r>
              <a:rPr sz="1200" b="1">
                <a:solidFill>
                  <a:srgbClr val="1B1E28"/>
                </a:solidFill>
                <a:latin typeface="Segoe UI"/>
              </a:rPr>
              <a:t>Idempotent upserts</a:t>
            </a:r>
            <a:r>
              <a:rPr sz="1200">
                <a:solidFill>
                  <a:srgbClr val="5A6072"/>
                </a:solidFill>
                <a:latin typeface="Segoe UI"/>
              </a:rPr>
              <a:t> — safe re-runs (699/1266/2079 stable)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132C"/>
                </a:solidFill>
                <a:latin typeface="Segoe UI"/>
              </a:rPr>
              <a:t>—  </a:t>
            </a:r>
            <a:r>
              <a:rPr sz="1200" b="1">
                <a:solidFill>
                  <a:srgbClr val="1B1E28"/>
                </a:solidFill>
                <a:latin typeface="Segoe UI"/>
              </a:rPr>
              <a:t>Incremental</a:t>
            </a:r>
            <a:r>
              <a:rPr sz="1200">
                <a:solidFill>
                  <a:srgbClr val="5A6072"/>
                </a:solidFill>
                <a:latin typeface="Segoe UI"/>
              </a:rPr>
              <a:t> — only re-query changed song_code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132C"/>
                </a:solidFill>
                <a:latin typeface="Segoe UI"/>
              </a:rPr>
              <a:t>—  </a:t>
            </a:r>
            <a:r>
              <a:rPr sz="1200" b="1">
                <a:solidFill>
                  <a:srgbClr val="1B1E28"/>
                </a:solidFill>
                <a:latin typeface="Segoe UI"/>
              </a:rPr>
              <a:t>YouTube quota</a:t>
            </a:r>
            <a:r>
              <a:rPr sz="1200">
                <a:solidFill>
                  <a:srgbClr val="5A6072"/>
                </a:solidFill>
                <a:latin typeface="Segoe UI"/>
              </a:rPr>
              <a:t> — 699 x 100 units &gt; 10k/day → cache + backfill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1132C"/>
                </a:solidFill>
                <a:latin typeface="Segoe UI"/>
              </a:rPr>
              <a:t>ONE DIMENSION, TWO FACT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41B33"/>
                </a:solidFill>
                <a:latin typeface="Segoe UI"/>
              </a:rPr>
              <a:t>Data Model / ERD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Segoe UI"/>
              </a:rPr>
              <a:t>Massive Music  ·  Data Engineering Technical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Segoe UI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3017520" cy="21534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20240"/>
            <a:ext cx="3017520" cy="384048"/>
          </a:xfrm>
          <a:prstGeom prst="rect">
            <a:avLst/>
          </a:prstGeom>
          <a:solidFill>
            <a:srgbClr val="14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3017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DIM_SONG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377440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1132C"/>
                </a:solidFill>
                <a:latin typeface="Segoe UI"/>
              </a:rPr>
              <a:t>* song_code  (PK)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10612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1E28"/>
                </a:solidFill>
                <a:latin typeface="Segoe UI"/>
              </a:rPr>
              <a:t>  song_title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843784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1E28"/>
                </a:solidFill>
                <a:latin typeface="Segoe UI"/>
              </a:rPr>
              <a:t>  song_title_raw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076956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1E28"/>
                </a:solidFill>
                <a:latin typeface="Segoe UI"/>
              </a:rPr>
              <a:t>  original_artist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310128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1E28"/>
                </a:solidFill>
                <a:latin typeface="Segoe UI"/>
              </a:rPr>
              <a:t>  artist_primary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543300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1E28"/>
                </a:solidFill>
                <a:latin typeface="Segoe UI"/>
              </a:rPr>
              <a:t>  match_key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3776472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1E28"/>
                </a:solidFill>
                <a:latin typeface="Segoe UI"/>
              </a:rPr>
              <a:t>  has_artist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417320"/>
            <a:ext cx="31089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1417320"/>
            <a:ext cx="3108960" cy="384048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1463040"/>
            <a:ext cx="3108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FACT_RECORDING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2" y="1874520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1132C"/>
                </a:solidFill>
                <a:latin typeface="Segoe UI"/>
              </a:rPr>
              <a:t>* isrc  (PK)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2107692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1E28"/>
                </a:solidFill>
                <a:latin typeface="Segoe UI"/>
              </a:rPr>
              <a:t>  song_code  (FK)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6752" y="2340864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1E28"/>
                </a:solidFill>
                <a:latin typeface="Segoe UI"/>
              </a:rPr>
              <a:t>  artist_name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2574036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1E28"/>
                </a:solidFill>
                <a:latin typeface="Segoe UI"/>
              </a:rPr>
              <a:t>  recording_title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6752" y="2807208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1E28"/>
                </a:solidFill>
                <a:latin typeface="Segoe UI"/>
              </a:rPr>
              <a:t>  album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3040380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1E28"/>
                </a:solidFill>
                <a:latin typeface="Segoe UI"/>
              </a:rPr>
              <a:t>  release_date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6752" y="3273552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1E28"/>
                </a:solidFill>
                <a:latin typeface="Segoe UI"/>
              </a:rPr>
              <a:t>  label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6752" y="3506724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1E28"/>
                </a:solidFill>
                <a:latin typeface="Segoe UI"/>
              </a:rPr>
              <a:t>  source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4069080"/>
            <a:ext cx="3108960" cy="191109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52160" y="4069080"/>
            <a:ext cx="3108960" cy="384048"/>
          </a:xfrm>
          <a:prstGeom prst="rect">
            <a:avLst/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4114800"/>
            <a:ext cx="3108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FACT_VIDEO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2" y="4526280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1132C"/>
                </a:solidFill>
                <a:latin typeface="Segoe UI"/>
              </a:rPr>
              <a:t>* video_id  (PK)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6752" y="4759452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1E28"/>
                </a:solidFill>
                <a:latin typeface="Segoe UI"/>
              </a:rPr>
              <a:t>  song_code  (FK)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6752" y="4992624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1E28"/>
                </a:solidFill>
                <a:latin typeface="Segoe UI"/>
              </a:rPr>
              <a:t>  channel_id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16752" y="5225796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1E28"/>
                </a:solidFill>
                <a:latin typeface="Segoe UI"/>
              </a:rPr>
              <a:t>  channel_title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16752" y="5458968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1E28"/>
                </a:solidFill>
                <a:latin typeface="Segoe UI"/>
              </a:rPr>
              <a:t>  video_title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16752" y="5692140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1E28"/>
                </a:solidFill>
                <a:latin typeface="Segoe UI"/>
              </a:rPr>
              <a:t>  source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3886200" y="2286000"/>
            <a:ext cx="1874519" cy="201168"/>
          </a:xfrm>
          <a:prstGeom prst="rightArrow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0" y="1975104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1132C"/>
                </a:solidFill>
                <a:latin typeface="Segoe UI"/>
              </a:rPr>
              <a:t>1 : N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3886200" y="4526280"/>
            <a:ext cx="1874519" cy="201168"/>
          </a:xfrm>
          <a:prstGeom prst="rightArrow">
            <a:avLst/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0" y="4754880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3304F"/>
                </a:solidFill>
                <a:latin typeface="Segoe UI"/>
              </a:rPr>
              <a:t>1 : 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89720" y="1737360"/>
            <a:ext cx="2286000" cy="3291840"/>
          </a:xfrm>
          <a:prstGeom prst="roundRect">
            <a:avLst/>
          </a:prstGeom>
          <a:solidFill>
            <a:srgbClr val="14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920240"/>
            <a:ext cx="1965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1132C"/>
                </a:solidFill>
                <a:latin typeface="Segoe UI"/>
              </a:rPr>
              <a:t>Design key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2423160"/>
            <a:ext cx="1965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00" b="1">
                <a:solidFill>
                  <a:srgbClr val="E1132C"/>
                </a:solidFill>
                <a:latin typeface="Segoe UI"/>
              </a:rPr>
              <a:t>›  </a:t>
            </a:r>
            <a:r>
              <a:rPr sz="1100">
                <a:solidFill>
                  <a:srgbClr val="FFFFFF"/>
                </a:solidFill>
                <a:latin typeface="Segoe UI"/>
              </a:rPr>
              <a:t>Join on song_code, never on title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00" b="1">
                <a:solidFill>
                  <a:srgbClr val="E1132C"/>
                </a:solidFill>
                <a:latin typeface="Segoe UI"/>
              </a:rPr>
              <a:t>›  </a:t>
            </a:r>
            <a:r>
              <a:rPr sz="1100">
                <a:solidFill>
                  <a:srgbClr val="FFFFFF"/>
                </a:solidFill>
                <a:latin typeface="Segoe UI"/>
              </a:rPr>
              <a:t>Duplicate titles are different songs (AMPUNI AKU, DOA, BUNGA)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00" b="1">
                <a:solidFill>
                  <a:srgbClr val="E1132C"/>
                </a:solidFill>
                <a:latin typeface="Segoe UI"/>
              </a:rPr>
              <a:t>›  </a:t>
            </a:r>
            <a:r>
              <a:rPr sz="1100">
                <a:solidFill>
                  <a:srgbClr val="FFFFFF"/>
                </a:solidFill>
                <a:latin typeface="Segoe UI"/>
              </a:rPr>
              <a:t>ISRC / video_id = natural PKs → idempotent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1132C"/>
                </a:solidFill>
                <a:latin typeface="Segoe UI"/>
              </a:rPr>
              <a:t>THE DIFFERENTIATOR: MESSY REAL-WORLD CATALOGUE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41B33"/>
                </a:solidFill>
                <a:latin typeface="Segoe UI"/>
              </a:rPr>
              <a:t>Data Quality &amp;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Segoe UI"/>
              </a:rPr>
              <a:t>Massive Music  ·  Data Engineering Technical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41B33"/>
                </a:solidFill>
                <a:latin typeface="Segoe UI"/>
              </a:rPr>
              <a:t>Issues found in the source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691640"/>
          <a:ext cx="5486400" cy="2624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</a:tblGrid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Issue</a:t>
                      </a:r>
                    </a:p>
                  </a:txBody>
                  <a:tcPr marL="91440" marR="54864" marT="18288" marB="18288" anchor="ctr">
                    <a:solidFill>
                      <a:srgbClr val="141B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Example</a:t>
                      </a:r>
                    </a:p>
                  </a:txBody>
                  <a:tcPr marL="91440" marR="54864" marT="18288" marB="18288" anchor="ctr">
                    <a:solidFill>
                      <a:srgbClr val="141B33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8"/>
                          </a:solidFill>
                          <a:latin typeface="Segoe UI"/>
                        </a:rPr>
                        <a:t>Missing artist (~half)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8"/>
                          </a:solidFill>
                          <a:latin typeface="Segoe UI"/>
                        </a:rPr>
                        <a:t>279 BE FREE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8"/>
                          </a:solidFill>
                          <a:latin typeface="Segoe UI"/>
                        </a:rPr>
                        <a:t>Invisible chars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8"/>
                          </a:solidFill>
                          <a:latin typeface="Segoe UI"/>
                        </a:rPr>
                        <a:t>U+2060 'SEROTONIN 6 AM'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8"/>
                          </a:solidFill>
                          <a:latin typeface="Segoe UI"/>
                        </a:rPr>
                        <a:t>Version / feat noise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8"/>
                          </a:solidFill>
                          <a:latin typeface="Segoe UI"/>
                        </a:rPr>
                        <a:t>WARTEG (WARGA TEGAR)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8"/>
                          </a:solidFill>
                          <a:latin typeface="Segoe UI"/>
                        </a:rPr>
                        <a:t>Multi-language ' / '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8"/>
                          </a:solidFill>
                          <a:latin typeface="Segoe UI"/>
                        </a:rPr>
                        <a:t>PUJA PAU SEN TA TI / ...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8"/>
                          </a:solidFill>
                          <a:latin typeface="Segoe UI"/>
                        </a:rPr>
                        <a:t>Multi-artist feat/&amp;/,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8"/>
                          </a:solidFill>
                          <a:latin typeface="Segoe UI"/>
                        </a:rPr>
                        <a:t>... FEAT TEZA SUMENDRA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8"/>
                          </a:solidFill>
                          <a:latin typeface="Segoe UI"/>
                        </a:rPr>
                        <a:t>Duplicate titles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8"/>
                          </a:solidFill>
                          <a:latin typeface="Segoe UI"/>
                        </a:rPr>
                        <a:t>AMPUNI AKU (4580, 3459)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92240" y="1325880"/>
            <a:ext cx="49377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41B33"/>
                </a:solidFill>
                <a:latin typeface="Segoe UI"/>
              </a:rPr>
              <a:t>Checks &amp;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250" b="1">
                <a:solidFill>
                  <a:srgbClr val="1B1E28"/>
                </a:solidFill>
                <a:latin typeface="Segoe UI"/>
              </a:rPr>
              <a:t>ISRC regex</a:t>
            </a:r>
            <a:r>
              <a:rPr sz="1250">
                <a:solidFill>
                  <a:srgbClr val="5A6072"/>
                </a:solidFill>
                <a:latin typeface="Segoe UI"/>
              </a:rPr>
              <a:t>  ^[A-Z]{2}[A-Z0-9]{3}[0-9]{7}$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250" b="1">
                <a:solidFill>
                  <a:srgbClr val="1B1E28"/>
                </a:solidFill>
                <a:latin typeface="Segoe UI"/>
              </a:rPr>
              <a:t>Not-null keys</a:t>
            </a:r>
            <a:r>
              <a:rPr sz="1250">
                <a:solidFill>
                  <a:srgbClr val="5A6072"/>
                </a:solidFill>
                <a:latin typeface="Segoe UI"/>
              </a:rPr>
              <a:t>  + referential integrity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250" b="1">
                <a:solidFill>
                  <a:srgbClr val="1B1E28"/>
                </a:solidFill>
                <a:latin typeface="Segoe UI"/>
              </a:rPr>
              <a:t>Dedup by PK</a:t>
            </a:r>
            <a:r>
              <a:rPr sz="1250">
                <a:solidFill>
                  <a:srgbClr val="5A6072"/>
                </a:solidFill>
                <a:latin typeface="Segoe UI"/>
              </a:rPr>
              <a:t>  isrc / video_id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250" b="1">
                <a:solidFill>
                  <a:srgbClr val="1B1E28"/>
                </a:solidFill>
                <a:latin typeface="Segoe UI"/>
              </a:rPr>
              <a:t>Quarantine, never drop</a:t>
            </a:r>
            <a:r>
              <a:rPr sz="1250">
                <a:solidFill>
                  <a:srgbClr val="5A6072"/>
                </a:solidFill>
                <a:latin typeface="Segoe UI"/>
              </a:rPr>
              <a:t>  reason + payload kept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703320"/>
            <a:ext cx="2331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3703320"/>
            <a:ext cx="82296" cy="1143000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8" y="3813048"/>
            <a:ext cx="2057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1132C"/>
                </a:solidFill>
                <a:latin typeface="Segoe UI"/>
              </a:rPr>
              <a:t>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696" y="4279392"/>
            <a:ext cx="2057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A6072"/>
                </a:solidFill>
                <a:latin typeface="Segoe UI"/>
              </a:rPr>
              <a:t>bad ISRC quarantined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3703320"/>
            <a:ext cx="2331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3703320"/>
            <a:ext cx="82296" cy="114300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3813048"/>
            <a:ext cx="2057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8A100"/>
                </a:solidFill>
                <a:latin typeface="Segoe UI"/>
              </a:rPr>
              <a:t>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4279392"/>
            <a:ext cx="2057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A6072"/>
                </a:solidFill>
                <a:latin typeface="Segoe UI"/>
              </a:rPr>
              <a:t>missing video 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983480"/>
            <a:ext cx="2331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4983480"/>
            <a:ext cx="82296" cy="1143000"/>
          </a:xfrm>
          <a:prstGeom prst="rect">
            <a:avLst/>
          </a:prstGeom>
          <a:solidFill>
            <a:srgbClr val="14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5093208"/>
            <a:ext cx="2057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41B33"/>
                </a:solidFill>
                <a:latin typeface="Segoe UI"/>
              </a:rPr>
              <a:t>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6" y="5559552"/>
            <a:ext cx="2057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A6072"/>
                </a:solidFill>
                <a:latin typeface="Segoe UI"/>
              </a:rPr>
              <a:t>duplicates removed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4983480"/>
            <a:ext cx="2331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80" y="4983480"/>
            <a:ext cx="82296" cy="1143000"/>
          </a:xfrm>
          <a:prstGeom prst="rect">
            <a:avLst/>
          </a:prstGeom>
          <a:solidFill>
            <a:srgbClr val="5A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5093208"/>
            <a:ext cx="2057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5A6072"/>
                </a:solidFill>
                <a:latin typeface="Segoe UI"/>
              </a:rPr>
              <a:t>82/61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5559552"/>
            <a:ext cx="2057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A6072"/>
                </a:solidFill>
                <a:latin typeface="Segoe UI"/>
              </a:rPr>
              <a:t>songs w/ 0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5760720"/>
            <a:ext cx="2057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6"/>
                </a:solidFill>
                <a:latin typeface="Segoe UI"/>
              </a:rPr>
              <a:t>Spotify / YouTube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1132C"/>
                </a:solidFill>
                <a:latin typeface="Segoe UI"/>
              </a:rPr>
              <a:t>DEMO SQLITE → PRODUCTION AZURE LAKEHOUSE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41B33"/>
                </a:solidFill>
                <a:latin typeface="Segoe UI"/>
              </a:rPr>
              <a:t>Data Storage Layer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Segoe UI"/>
              </a:rPr>
              <a:t>Massive Music  ·  Data Engineering Technical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Segoe U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874519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1874519" cy="82296"/>
          </a:xfrm>
          <a:prstGeom prst="rect">
            <a:avLst/>
          </a:prstGeom>
          <a:solidFill>
            <a:srgbClr val="5A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1874519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41B33"/>
                </a:solidFill>
                <a:latin typeface="Segoe UI"/>
              </a:rPr>
              <a:t>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187451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6072"/>
                </a:solidFill>
                <a:latin typeface="Segoe UI"/>
              </a:rPr>
              <a:t>Spotify /
YouTube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24327" y="2103120"/>
            <a:ext cx="237744" cy="219456"/>
          </a:xfrm>
          <a:prstGeom prst="rightArrow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0359" y="1600200"/>
            <a:ext cx="1874519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0359" y="1600200"/>
            <a:ext cx="1874519" cy="82296"/>
          </a:xfrm>
          <a:prstGeom prst="rect">
            <a:avLst/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59" y="1783080"/>
            <a:ext cx="1874519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41B33"/>
                </a:solidFill>
                <a:latin typeface="Segoe UI"/>
              </a:rPr>
              <a:t>Azure Data
Factory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59" y="2377440"/>
            <a:ext cx="187451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6072"/>
                </a:solidFill>
                <a:latin typeface="Segoe UI"/>
              </a:rPr>
              <a:t>orchestrate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73166" y="2103120"/>
            <a:ext cx="237744" cy="219456"/>
          </a:xfrm>
          <a:prstGeom prst="rightArrow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198" y="1600200"/>
            <a:ext cx="1874519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8" y="1600200"/>
            <a:ext cx="1874519" cy="82296"/>
          </a:xfrm>
          <a:prstGeom prst="rect">
            <a:avLst/>
          </a:prstGeom>
          <a:solidFill>
            <a:srgbClr val="C77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198" y="1783080"/>
            <a:ext cx="1874519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41B33"/>
                </a:solidFill>
                <a:latin typeface="Segoe UI"/>
              </a:rPr>
              <a:t>Data Lake
Gen2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198" y="2377440"/>
            <a:ext cx="187451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6072"/>
                </a:solidFill>
                <a:latin typeface="Segoe UI"/>
              </a:rPr>
              <a:t>RAW (Parquet)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922005" y="2103120"/>
            <a:ext cx="237744" cy="219456"/>
          </a:xfrm>
          <a:prstGeom prst="rightArrow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78037" y="1600200"/>
            <a:ext cx="1874519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78037" y="1600200"/>
            <a:ext cx="1874519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37" y="1783080"/>
            <a:ext cx="1874519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41B33"/>
                </a:solidFill>
                <a:latin typeface="Segoe UI"/>
              </a:rPr>
              <a:t>Azure SQL /
Synapse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37" y="2377440"/>
            <a:ext cx="187451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6072"/>
                </a:solidFill>
                <a:latin typeface="Segoe UI"/>
              </a:rPr>
              <a:t>dim + facts
+ marts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070844" y="2103120"/>
            <a:ext cx="237744" cy="219456"/>
          </a:xfrm>
          <a:prstGeom prst="rightArrow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26876" y="1600200"/>
            <a:ext cx="1874519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26876" y="1600200"/>
            <a:ext cx="1874519" cy="82296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76" y="1783080"/>
            <a:ext cx="1874519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41B33"/>
                </a:solidFill>
                <a:latin typeface="Segoe UI"/>
              </a:rPr>
              <a:t>Power 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76" y="2377440"/>
            <a:ext cx="187451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6072"/>
                </a:solidFill>
                <a:latin typeface="Segoe UI"/>
              </a:rPr>
              <a:t>analysts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731520" y="3337560"/>
          <a:ext cx="1069848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2560320"/>
                <a:gridCol w="65836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marL="91440" marR="54864" marT="18288" marB="18288" anchor="ctr">
                    <a:solidFill>
                      <a:srgbClr val="141B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Service</a:t>
                      </a:r>
                    </a:p>
                  </a:txBody>
                  <a:tcPr marL="91440" marR="54864" marT="18288" marB="18288" anchor="ctr">
                    <a:solidFill>
                      <a:srgbClr val="141B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Why it fits</a:t>
                      </a:r>
                    </a:p>
                  </a:txBody>
                  <a:tcPr marL="91440" marR="54864" marT="18288" marB="18288" anchor="ctr">
                    <a:solidFill>
                      <a:srgbClr val="141B3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Raw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Data Lake Gen2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cheap, immutable, schema-on-read, replay without quota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Serving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Azure SQL / Synapse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columnstore → fast GROUP BY song_code; native Power BI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Secrets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Azure Key Vault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API keys never in code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Orchestrate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Azure Data Factory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scheduled, retries, monitoring (cloud evolution of SSIS)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1B33"/>
                </a:solidFill>
                <a:latin typeface="Segoe UI"/>
              </a:rPr>
              <a:t>Aligned to skillset (SQL Server / SSIS / Azure / Power BI) → production path is a direct extension of the demo, not a new stack.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1132C"/>
                </a:solidFill>
                <a:latin typeface="Segoe UI"/>
              </a:rPr>
              <a:t>KEEPING THE PIPELINE ROBUST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41B33"/>
                </a:solidFill>
                <a:latin typeface="Segoe UI"/>
              </a:rPr>
              <a:t>Monitoring &amp;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Segoe UI"/>
              </a:rPr>
              <a:t>Massive Music  ·  Data Engineering Technical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41B33"/>
                </a:solidFill>
                <a:latin typeface="Segoe UI"/>
              </a:rPr>
              <a:t>What we monitor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691640"/>
          <a:ext cx="557784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338328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Dimension</a:t>
                      </a:r>
                    </a:p>
                  </a:txBody>
                  <a:tcPr marL="91440" marR="54864" marT="18288" marB="18288" anchor="ctr">
                    <a:solidFill>
                      <a:srgbClr val="141B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Signal</a:t>
                      </a:r>
                    </a:p>
                  </a:txBody>
                  <a:tcPr marL="91440" marR="54864" marT="18288" marB="18288" anchor="ctr">
                    <a:solidFill>
                      <a:srgbClr val="141B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Reliability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run status + row counts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Performance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stage duration, API latency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Data quality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quarantine &amp; dedup rate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Freshness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last success vs SLA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API quota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E28"/>
                          </a:solidFill>
                          <a:latin typeface="Segoe UI"/>
                        </a:rPr>
                        <a:t>YouTube units / 10k cap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0" y="1325880"/>
            <a:ext cx="4846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41B33"/>
                </a:solidFill>
                <a:latin typeface="Segoe UI"/>
              </a:rPr>
              <a:t>How we stay healthy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250" b="1">
                <a:solidFill>
                  <a:srgbClr val="1B1E28"/>
                </a:solidFill>
                <a:latin typeface="Segoe UI"/>
              </a:rPr>
              <a:t>Retries + backoff</a:t>
            </a:r>
            <a:r>
              <a:rPr sz="1250">
                <a:solidFill>
                  <a:srgbClr val="5A6072"/>
                </a:solidFill>
                <a:latin typeface="Segoe UI"/>
              </a:rPr>
              <a:t> on 429/5xx; pause on quota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250" b="1">
                <a:solidFill>
                  <a:srgbClr val="1B1E28"/>
                </a:solidFill>
                <a:latin typeface="Segoe UI"/>
              </a:rPr>
              <a:t>Quarantine, don't crash</a:t>
            </a:r>
            <a:r>
              <a:rPr sz="1250">
                <a:solidFill>
                  <a:srgbClr val="5A6072"/>
                </a:solidFill>
                <a:latin typeface="Segoe UI"/>
              </a:rPr>
              <a:t> — bad row never aborts batch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250" b="1">
                <a:solidFill>
                  <a:srgbClr val="1B1E28"/>
                </a:solidFill>
                <a:latin typeface="Segoe UI"/>
              </a:rPr>
              <a:t>Idempotent re-runs</a:t>
            </a:r>
            <a:r>
              <a:rPr sz="1250">
                <a:solidFill>
                  <a:srgbClr val="5A6072"/>
                </a:solidFill>
                <a:latin typeface="Segoe UI"/>
              </a:rPr>
              <a:t> — failed run safe to restart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250" b="1">
                <a:solidFill>
                  <a:srgbClr val="1B1E28"/>
                </a:solidFill>
                <a:latin typeface="Segoe UI"/>
              </a:rPr>
              <a:t>Alerting</a:t>
            </a:r>
            <a:r>
              <a:rPr sz="1250">
                <a:solidFill>
                  <a:srgbClr val="5A6072"/>
                </a:solidFill>
                <a:latin typeface="Segoe UI"/>
              </a:rPr>
              <a:t> on FAIL or quarantine-rate &gt; 10%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250" b="1">
                <a:solidFill>
                  <a:srgbClr val="1B1E28"/>
                </a:solidFill>
                <a:latin typeface="Segoe UI"/>
              </a:rPr>
              <a:t>Backfill</a:t>
            </a:r>
            <a:r>
              <a:rPr sz="1250">
                <a:solidFill>
                  <a:srgbClr val="5A6072"/>
                </a:solidFill>
                <a:latin typeface="Segoe UI"/>
              </a:rPr>
              <a:t> by replaying immutable Raw zone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250" b="1">
                <a:solidFill>
                  <a:srgbClr val="1B1E28"/>
                </a:solidFill>
                <a:latin typeface="Segoe UI"/>
              </a:rPr>
              <a:t>Re-match backlog</a:t>
            </a:r>
            <a:r>
              <a:rPr sz="1250">
                <a:solidFill>
                  <a:srgbClr val="5A6072"/>
                </a:solidFill>
                <a:latin typeface="Segoe UI"/>
              </a:rPr>
              <a:t> 82/61 zero-result songs retried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250" b="1">
                <a:solidFill>
                  <a:srgbClr val="1B1E28"/>
                </a:solidFill>
                <a:latin typeface="Segoe UI"/>
              </a:rPr>
              <a:t>Secret rotation</a:t>
            </a:r>
            <a:r>
              <a:rPr sz="1250">
                <a:solidFill>
                  <a:srgbClr val="5A6072"/>
                </a:solidFill>
                <a:latin typeface="Segoe UI"/>
              </a:rPr>
              <a:t> via Key Vault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557784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072"/>
                </a:solidFill>
                <a:latin typeface="Segoe UI"/>
              </a:rPr>
              <a:t>Every run writes one row to </a:t>
            </a:r>
            <a:r>
              <a:rPr sz="1200" b="1">
                <a:solidFill>
                  <a:srgbClr val="E1132C"/>
                </a:solidFill>
                <a:latin typeface="Consolas"/>
              </a:rPr>
              <a:t>pipeline_run_log</a:t>
            </a:r>
            <a:r>
              <a:rPr sz="1200" b="0">
                <a:solidFill>
                  <a:srgbClr val="5A6072"/>
                </a:solidFill>
                <a:latin typeface="Segoe UI"/>
              </a:rPr>
              <a:t> — the table dashboards &amp; alerts read.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1132C"/>
                </a:solidFill>
                <a:latin typeface="Segoe UI"/>
              </a:rPr>
              <a:t>REPRODUCIBLE · IDEMPOTENT · ZERO CREDENTIALS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Live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Segoe UI"/>
              </a:rPr>
              <a:t>Massive Music  ·  Data Engineering Technical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Segoe U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24688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82296" cy="1371600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664208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1132C"/>
                </a:solidFill>
                <a:latin typeface="Segoe UI"/>
              </a:rPr>
              <a:t>699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59152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A6072"/>
                </a:solidFill>
                <a:latin typeface="Segoe UI"/>
              </a:rPr>
              <a:t>songs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554480"/>
            <a:ext cx="24688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554480"/>
            <a:ext cx="82296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664208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C9A227"/>
                </a:solidFill>
                <a:latin typeface="Segoe UI"/>
              </a:rPr>
              <a:t>1,266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359152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A6072"/>
                </a:solidFill>
                <a:latin typeface="Segoe UI"/>
              </a:rPr>
              <a:t>ISRCs (Spotify)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554480"/>
            <a:ext cx="24688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554480"/>
            <a:ext cx="82296" cy="1371600"/>
          </a:xfrm>
          <a:prstGeom prst="rect">
            <a:avLst/>
          </a:prstGeom>
          <a:solidFill>
            <a:srgbClr val="18A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1664208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8A957"/>
                </a:solidFill>
                <a:latin typeface="Segoe UI"/>
              </a:rPr>
              <a:t>2,079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359152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A6072"/>
                </a:solidFill>
                <a:latin typeface="Segoe UI"/>
              </a:rPr>
              <a:t>videos (YouTube)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1554480"/>
            <a:ext cx="27432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0" y="1554480"/>
            <a:ext cx="82296" cy="1371600"/>
          </a:xfrm>
          <a:prstGeom prst="rect">
            <a:avLst/>
          </a:prstGeom>
          <a:solidFill>
            <a:srgbClr val="18A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7968" y="166420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8A957"/>
                </a:solidFill>
                <a:latin typeface="Segoe UI"/>
              </a:rPr>
              <a:t>SUCCESS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256" y="2359152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A6072"/>
                </a:solidFill>
                <a:latin typeface="Segoe UI"/>
              </a:rPr>
              <a:t>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00400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Top songs by video count  (mart_song_overview)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31520" y="3611880"/>
          <a:ext cx="676656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/>
                <a:gridCol w="1097280"/>
                <a:gridCol w="109728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Song</a:t>
                      </a:r>
                    </a:p>
                  </a:txBody>
                  <a:tcPr marL="91440" marR="54864" marT="18288" marB="18288" anchor="ctr">
                    <a:solidFill>
                      <a:srgbClr val="141B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ISRC</a:t>
                      </a:r>
                    </a:p>
                  </a:txBody>
                  <a:tcPr marL="91440" marR="54864" marT="18288" marB="18288" anchor="ctr">
                    <a:solidFill>
                      <a:srgbClr val="141B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Videos</a:t>
                      </a:r>
                    </a:p>
                  </a:txBody>
                  <a:tcPr marL="91440" marR="54864" marT="18288" marB="18288" anchor="ctr">
                    <a:solidFill>
                      <a:srgbClr val="141B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8"/>
                          </a:solidFill>
                          <a:latin typeface="Segoe UI"/>
                        </a:rPr>
                        <a:t>HATIKU HATIMU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8"/>
                          </a:solidFill>
                          <a:latin typeface="Segoe UI"/>
                        </a:rPr>
                        <a:t>MALIOBORO NINGGAL CERITO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8"/>
                          </a:solidFill>
                          <a:latin typeface="Segoe UI"/>
                        </a:rPr>
                        <a:t>LUPAHON MA HALLET MI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8"/>
                          </a:solidFill>
                          <a:latin typeface="Segoe UI"/>
                        </a:rPr>
                        <a:t>TANGISAN IBU PERTIWI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54864" marT="18288" marB="18288" anchor="ctr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8"/>
                          </a:solidFill>
                          <a:latin typeface="Segoe UI"/>
                        </a:rPr>
                        <a:t>DOSA APA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7818120" y="3611880"/>
            <a:ext cx="3611880" cy="2423160"/>
          </a:xfrm>
          <a:prstGeom prst="roundRect">
            <a:avLst/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379476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1132C"/>
                </a:solidFill>
                <a:latin typeface="Segoe UI"/>
              </a:rPr>
              <a:t>One command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206240"/>
            <a:ext cx="320040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python -m src.pipeline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python verify.py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1B1E28"/>
                </a:solidFill>
                <a:latin typeface="Segoe UI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A93A6"/>
                </a:solidFill>
                <a:latin typeface="Segoe UI"/>
              </a:rPr>
              <a:t>Std-lib only — nothing to pip install.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A93A6"/>
                </a:solidFill>
                <a:latin typeface="Segoe UI"/>
              </a:rPr>
              <a:t>Re-run = same numbers.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1132C"/>
                </a:solidFill>
                <a:latin typeface="Segoe UI"/>
              </a:rPr>
              <a:t>FROM MOCK TO REAL, SAFELY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41B33"/>
                </a:solidFill>
                <a:latin typeface="Segoe UI"/>
              </a:rPr>
              <a:t>Scaling to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Segoe UI"/>
              </a:rPr>
              <a:t>Massive Music  ·  Data Engineering Technical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Segoe U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120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109728" cy="1965960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28800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41B33"/>
                </a:solidFill>
                <a:latin typeface="Segoe UI"/>
              </a:rPr>
              <a:t>Real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77440"/>
            <a:ext cx="46634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072"/>
                </a:solidFill>
                <a:latin typeface="Segoe UI"/>
              </a:rPr>
              <a:t>Swap mock_*_client.py for spotipy + google-api-python-client. Same dict shape → nothing downstream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00200"/>
            <a:ext cx="52120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00200"/>
            <a:ext cx="109728" cy="1965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41B33"/>
                </a:solidFill>
                <a:latin typeface="Segoe UI"/>
              </a:rPr>
              <a:t>Quota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40"/>
            <a:ext cx="46634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072"/>
                </a:solidFill>
                <a:latin typeface="Segoe UI"/>
              </a:rPr>
              <a:t>YouTube 10k units/day; 699 searches ~70k. Spread across days, cache Raw, request increase.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52120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109728" cy="1965960"/>
          </a:xfrm>
          <a:prstGeom prst="rect">
            <a:avLst/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069080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41B33"/>
                </a:solidFill>
                <a:latin typeface="Segoe UI"/>
              </a:rPr>
              <a:t>Incremental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617720"/>
            <a:ext cx="46634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072"/>
                </a:solidFill>
                <a:latin typeface="Segoe UI"/>
              </a:rPr>
              <a:t>Only re-query changed song_code; upserts keep it idempotent.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840480"/>
            <a:ext cx="52120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840480"/>
            <a:ext cx="109728" cy="1965960"/>
          </a:xfrm>
          <a:prstGeom prst="rect">
            <a:avLst/>
          </a:prstGeom>
          <a:solidFill>
            <a:srgbClr val="18A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069080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41B33"/>
                </a:solidFill>
                <a:latin typeface="Segoe UI"/>
              </a:rPr>
              <a:t>Match confidence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617720"/>
            <a:ext cx="46634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072"/>
                </a:solidFill>
                <a:latin typeface="Segoe UI"/>
              </a:rPr>
              <a:t>Fuzzy score on match_key + artist; low-confidence → manual-review queue (the missing-artist long tail).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75488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Summary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Segoe UI"/>
              </a:rPr>
              <a:t>Massive Music  ·  Data Engineering Technical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E1132C"/>
                </a:solidFill>
                <a:latin typeface="Segoe UI"/>
              </a:rPr>
              <a:t>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450">
                <a:solidFill>
                  <a:srgbClr val="FFFFFF"/>
                </a:solidFill>
                <a:latin typeface="Segoe UI"/>
              </a:rPr>
              <a:t>Runnable pipeline (Raw → Staging → Serving)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450">
                <a:solidFill>
                  <a:srgbClr val="FFFFFF"/>
                </a:solidFill>
                <a:latin typeface="Segoe UI"/>
              </a:rPr>
              <a:t>Cleaned, deduplicated database (SQLite)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450">
                <a:solidFill>
                  <a:srgbClr val="FFFFFF"/>
                </a:solidFill>
                <a:latin typeface="Segoe UI"/>
              </a:rPr>
              <a:t>ERD + star schema + analytical marts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450">
                <a:solidFill>
                  <a:srgbClr val="FFFFFF"/>
                </a:solidFill>
                <a:latin typeface="Segoe UI"/>
              </a:rPr>
              <a:t>Data-quality engine with quarantine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E1132C"/>
                </a:solidFill>
                <a:latin typeface="Segoe UI"/>
              </a:rPr>
              <a:t>—  </a:t>
            </a:r>
            <a:r>
              <a:rPr sz="1450">
                <a:solidFill>
                  <a:srgbClr val="FFFFFF"/>
                </a:solidFill>
                <a:latin typeface="Segoe UI"/>
              </a:rPr>
              <a:t>4 design docs (architecture, DQ, storage, monitoring)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E1132C"/>
                </a:solidFill>
                <a:latin typeface="Segoe UI"/>
              </a:rP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C9A227"/>
                </a:solidFill>
                <a:latin typeface="Segoe UI"/>
              </a:rPr>
              <a:t>—  </a:t>
            </a:r>
            <a:r>
              <a:rPr sz="1450">
                <a:solidFill>
                  <a:srgbClr val="FFFFFF"/>
                </a:solidFill>
                <a:latin typeface="Segoe UI"/>
              </a:rPr>
              <a:t>Plug in real Spotify / YouTube API keys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C9A227"/>
                </a:solidFill>
                <a:latin typeface="Segoe UI"/>
              </a:rPr>
              <a:t>—  </a:t>
            </a:r>
            <a:r>
              <a:rPr sz="1450">
                <a:solidFill>
                  <a:srgbClr val="FFFFFF"/>
                </a:solidFill>
                <a:latin typeface="Segoe UI"/>
              </a:rPr>
              <a:t>Great Expectations DQ suite in CI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C9A227"/>
                </a:solidFill>
                <a:latin typeface="Segoe UI"/>
              </a:rPr>
              <a:t>—  </a:t>
            </a:r>
            <a:r>
              <a:rPr sz="1450">
                <a:solidFill>
                  <a:srgbClr val="FFFFFF"/>
                </a:solidFill>
                <a:latin typeface="Segoe UI"/>
              </a:rPr>
              <a:t>Deploy on Azure Data Factory + Synapse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C9A227"/>
                </a:solidFill>
                <a:latin typeface="Segoe UI"/>
              </a:rPr>
              <a:t>—  </a:t>
            </a:r>
            <a:r>
              <a:rPr sz="1450">
                <a:solidFill>
                  <a:srgbClr val="FFFFFF"/>
                </a:solidFill>
                <a:latin typeface="Segoe UI"/>
              </a:rPr>
              <a:t>Power BI dashboard on the marts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C9A227"/>
                </a:solidFill>
                <a:latin typeface="Segoe UI"/>
              </a:rPr>
              <a:t>—  </a:t>
            </a:r>
            <a:r>
              <a:rPr sz="1450">
                <a:solidFill>
                  <a:srgbClr val="FFFFFF"/>
                </a:solidFill>
                <a:latin typeface="Segoe UI"/>
              </a:rPr>
              <a:t>Fuzzy-match + manual-review for unmatched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806440"/>
            <a:ext cx="10698480" cy="548640"/>
          </a:xfrm>
          <a:prstGeom prst="roundRect">
            <a:avLst/>
          </a:prstGeom>
          <a:solidFill>
            <a:srgbClr val="E11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699 songs  →  1,266 ISRCs  ·  2,079 videos     |   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